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ONE-LINE FRAME: this is what came out the other end. The rest of the deck is how.</a:t>
            </a:r>
          </a:p>
          <a:p/>
          <a:p>
            <a:r>
              <a:t>ORDER OF EMPHASIS if time is short: the two e2e prefill numbers (40 % on compute_wy, 35 % on the</a:t>
            </a:r>
          </a:p>
          <a:p>
            <a:r>
              <a:t>CGDR pair) are the ones that move a user-visible metric — end-to-end, not operator-local. Lead</a:t>
            </a:r>
          </a:p>
          <a:p>
            <a:r>
              <a:t>with those. The 25 % on RGDR and the 70× on GroupMatMul are operator-local; say so, don't let</a:t>
            </a:r>
          </a:p>
          <a:p>
            <a:r>
              <a:t>anyone hear them as end-to-end.</a:t>
            </a:r>
          </a:p>
          <a:p/>
          <a:p>
            <a:r>
              <a:t>THE 3–4 % ON TopPTopK is small and worth keeping anyway — it is in the sampling path, so it</a:t>
            </a:r>
          </a:p>
          <a:p>
            <a:r>
              <a:t>applies to every decode step regardless of model or shape.</a:t>
            </a:r>
          </a:p>
          <a:p/>
          <a:p>
            <a:r>
              <a:t>THE 950PR ROW IS THE ARGUMENT ABOUT SPEED, not about those four operators. Four operators, five</a:t>
            </a:r>
          </a:p>
          <a:p>
            <a:r>
              <a:t>days, a chip that is not our main target. If someone asks 'how long does a port take now', that</a:t>
            </a:r>
          </a:p>
          <a:p>
            <a:r>
              <a:t>row is the answer.</a:t>
            </a:r>
          </a:p>
          <a:p/>
          <a:p>
            <a:r>
              <a:t>IF ASKED WHICH OF THESE THE SYSTEM DID vs. which were done by hand — answer it straight, it is</a:t>
            </a:r>
          </a:p>
          <a:p>
            <a:r>
              <a:t>the first thing a sceptic will ask. Have the split ready before you present.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ONE-LINE FRAME: a config file goes in, an operator that has passed its own</a:t>
            </a:r>
          </a:p>
          <a:p>
            <a:r>
              <a:t>gates comes out.</a:t>
            </a:r>
          </a:p>
          <a:p/>
          <a:p>
            <a:r>
              <a:t>The opening number is OUR baseline, not a vendor claim — paper §9: several weeks for one</a:t>
            </a:r>
          </a:p>
          <a:p>
            <a:r>
              <a:t>operator, three synchronisation bugs in ~1000 lines of kernel code, silent data corruption</a:t>
            </a:r>
          </a:p>
          <a:p>
            <a:r>
              <a:t>and aicore exceptions, and they were only found by running the analysis tools. That is the</a:t>
            </a:r>
          </a:p>
          <a:p>
            <a:r>
              <a:t>cost the system is attacking.</a:t>
            </a:r>
          </a:p>
          <a:p/>
          <a:p>
            <a:r>
              <a:t>IF ASKED how the four phases map to real work: ANALYSE decides whether the port can share</a:t>
            </a:r>
          </a:p>
          <a:p>
            <a:r>
              <a:t>the existing tiling or needs its own, intersects the dtypes the two chips actually support,</a:t>
            </a:r>
          </a:p>
          <a:p>
            <a:r>
              <a:t>and allocates tiling keys that cannot collide with the source chip's. EMIT writes the four</a:t>
            </a:r>
          </a:p>
          <a:p>
            <a:r>
              <a:t>files a CANN operator needs. VERIFY generates its own tests. TUNE measures first, then</a:t>
            </a:r>
          </a:p>
          <a:p>
            <a:r>
              <a:t>changes one thing at a time.</a:t>
            </a:r>
          </a:p>
          <a:p/>
          <a:p>
            <a:r>
              <a:t>THE POINT TO LAND on the gate band: the thresholds are not aspirations, they are refusals.</a:t>
            </a:r>
          </a:p>
          <a:p>
            <a:r>
              <a:t>A change that measures 4% faster is reverted, automatically, from a snapshot. And the</a:t>
            </a:r>
          </a:p>
          <a:p>
            <a:r>
              <a:t>correctness floor is never lowered to make a test pass — that is written into the rule, not</a:t>
            </a:r>
          </a:p>
          <a:p>
            <a:r>
              <a:t>left to judgement.</a:t>
            </a:r>
          </a:p>
          <a:p/>
          <a:p>
            <a:r>
              <a:t>IF ASKED why 0.99: at 1024 dimensions that is about an 8-degree angle, empirically the floor</a:t>
            </a:r>
          </a:p>
          <a:p>
            <a:r>
              <a:t>below which downstream consumers — attention scores, loss gradients — start producing</a:t>
            </a:r>
          </a:p>
          <a:p>
            <a:r>
              <a:t>visibly different predictions. Norm and logit operators run at 0.999 because large vocab</a:t>
            </a:r>
          </a:p>
          <a:p>
            <a:r>
              <a:t>and normalisation amplify error. Cosine alone is not sufficient, so max_err is gated</a:t>
            </a:r>
          </a:p>
          <a:p>
            <a:r>
              <a:t>alongside it: a single NaN can hide inside a good-looking cosine.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ONE-LINE FRAME: the system does not tune by trial and error. It prices every</a:t>
            </a:r>
          </a:p>
          <a:p>
            <a:r>
              <a:t>candidate tiling first, then checks the price against the hardware.</a:t>
            </a:r>
          </a:p>
          <a:p/>
          <a:p>
            <a:r>
              <a:t>THE COMPARISON TO MAKE OUT LOUD (deliberately not printed on the slide): the usual way to</a:t>
            </a:r>
          </a:p>
          <a:p>
            <a:r>
              <a:t>estimate a kernel's cost is bytes divided by bandwidth — a roofline. That estimate cannot</a:t>
            </a:r>
          </a:p>
          <a:p>
            <a:r>
              <a:t>tell these two tilings apart, because they move the same bytes. If that is what the tooling</a:t>
            </a:r>
          </a:p>
          <a:p>
            <a:r>
              <a:t>elsewhere does, this is the gap.</a:t>
            </a:r>
          </a:p>
          <a:p/>
          <a:p>
            <a:r>
              <a:t>WHY L2 CHANGES THE ANSWER: the weight matrix is read by every core. If the cores are walking</a:t>
            </a:r>
          </a:p>
          <a:p>
            <a:r>
              <a:t>different parts of the problem, each one fetches the weight from off-chip at 17 bytes per</a:t>
            </a:r>
          </a:p>
          <a:p>
            <a:r>
              <a:t>cycle. If they are walking the same part at the same time, the first fetch pulls it into L2</a:t>
            </a:r>
          </a:p>
          <a:p>
            <a:r>
              <a:t>and the other seven read it at 114. Same bytes requested, 6.7× different cost to serve them.</a:t>
            </a:r>
          </a:p>
          <a:p>
            <a:r>
              <a:t>The model carries a spill term: once the working set stops fitting in roughly 10 MB of usable</a:t>
            </a:r>
          </a:p>
          <a:p>
            <a:r>
              <a:t>L2, the advantage decays back to the off-chip rate.</a:t>
            </a:r>
          </a:p>
          <a:p/>
          <a:p>
            <a:r>
              <a:t>THE OPERATOR IS m968 (batch 1, one query, unoptimised baseline). Before: 2 cores, 4 M-shards,</a:t>
            </a:r>
          </a:p>
          <a:p>
            <a:r>
              <a:t>cores on disjoint column-batches — L2 hit rate 0.04%, 63906 µs. After: cores restructured to</a:t>
            </a:r>
          </a:p>
          <a:p>
            <a:r>
              <a:t>share one weight — 74.91%, 22097 µs.</a:t>
            </a:r>
          </a:p>
          <a:p/>
          <a:p>
            <a:r>
              <a:t>BE PRECISE IF PRESSED: a rule fires on the operator's shape — enough M-direction work to fill</a:t>
            </a:r>
          </a:p>
          <a:p>
            <a:r>
              <a:t>every core, and a weight that doesn't change across the batch — and proposes the restructure.</a:t>
            </a:r>
          </a:p>
          <a:p>
            <a:r>
              <a:t>The model then prices it. Formalising that choice inside the tiling solver, rather than as a</a:t>
            </a:r>
          </a:p>
          <a:p>
            <a:r>
              <a:t>rule, is on the open list.</a:t>
            </a:r>
          </a:p>
          <a:p/>
          <a:p>
            <a:r>
              <a:t>THE 30% LINE MATTERS MOST. Predicted and measured cycles are compared per component after</a:t>
            </a:r>
          </a:p>
          <a:p>
            <a:r>
              <a:t>every run. A persistent gap raises a calibration finding against the model itself. That is the</a:t>
            </a:r>
          </a:p>
          <a:p>
            <a:r>
              <a:t>difference between a formula in a paper and a model that is actually in service.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F4E79"/>
                </a:solidFill>
                <a:latin typeface="Calibri"/>
              </a:rPr>
              <a:t>What shipped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77824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</a:rPr>
              <a:t>Operators delivered, and what each one bought.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11185855" cy="2011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389888"/>
            <a:ext cx="11185855" cy="3840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1490472"/>
            <a:ext cx="2880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OPERATOR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58768" y="1490472"/>
            <a:ext cx="2514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WHY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7688" y="1490472"/>
            <a:ext cx="496793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RESULT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773936"/>
            <a:ext cx="11185855" cy="12801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1929384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Consolas"/>
              </a:rPr>
              <a:t>compute_wy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58768" y="1938528"/>
            <a:ext cx="2514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5568"/>
                </a:solidFill>
                <a:latin typeface="Calibri"/>
              </a:rPr>
              <a:t>GDN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47688" y="1911095"/>
            <a:ext cx="496793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F855A"/>
                </a:solidFill>
                <a:latin typeface="Calibri"/>
              </a:rPr>
              <a:t>+40 %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  e2e prefill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340864"/>
            <a:ext cx="11185855" cy="566928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2340864"/>
            <a:ext cx="11185855" cy="12801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" y="2496312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Consolas"/>
              </a:rPr>
              <a:t>TopPTopK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58768" y="2505456"/>
            <a:ext cx="2514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5568"/>
                </a:solidFill>
                <a:latin typeface="Calibri"/>
              </a:rPr>
              <a:t>sampling path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47688" y="2478024"/>
            <a:ext cx="496793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F855A"/>
                </a:solidFill>
                <a:latin typeface="Calibri"/>
              </a:rPr>
              <a:t>+3–4 %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  decode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907791"/>
            <a:ext cx="11185855" cy="12801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" y="3063239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Consolas"/>
              </a:rPr>
              <a:t>CGDR_fwd_o · CGDR_fwd_h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58768" y="3072384"/>
            <a:ext cx="2514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5568"/>
                </a:solidFill>
                <a:latin typeface="Calibri"/>
              </a:rPr>
              <a:t>GDN architecture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47688" y="3044951"/>
            <a:ext cx="496793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F855A"/>
                </a:solidFill>
                <a:latin typeface="Calibri"/>
              </a:rPr>
              <a:t>+35 %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  e2e prefill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474720"/>
            <a:ext cx="11185855" cy="566928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3474720"/>
            <a:ext cx="11185855" cy="12801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088" y="3630168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Consolas"/>
              </a:rPr>
              <a:t>RGDR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58768" y="3639312"/>
            <a:ext cx="2514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5568"/>
                </a:solidFill>
                <a:latin typeface="Calibri"/>
              </a:rPr>
              <a:t>GDN architecture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47688" y="3611879"/>
            <a:ext cx="496793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F855A"/>
                </a:solidFill>
                <a:latin typeface="Calibri"/>
              </a:rPr>
              <a:t>+25 %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  on the operator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4041648"/>
            <a:ext cx="11185855" cy="12801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4088" y="4197096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Consolas"/>
              </a:rPr>
              <a:t>GroupMatMul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58768" y="4206240"/>
            <a:ext cx="2514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5568"/>
                </a:solidFill>
                <a:latin typeface="Calibri"/>
              </a:rPr>
              <a:t>AI-PC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47688" y="4178808"/>
            <a:ext cx="496793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F855A"/>
                </a:solidFill>
                <a:latin typeface="Calibri"/>
              </a:rPr>
              <a:t>70×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  on the operator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4608576"/>
            <a:ext cx="11185855" cy="12801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2920" y="4919472"/>
            <a:ext cx="11185855" cy="1316736"/>
          </a:xfrm>
          <a:prstGeom prst="rect">
            <a:avLst/>
          </a:prstGeom>
          <a:solidFill>
            <a:srgbClr val="EAF2F8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0664" y="5065776"/>
            <a:ext cx="1071036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4E79"/>
                </a:solidFill>
                <a:latin typeface="Calibri"/>
              </a:rPr>
              <a:t>Also implemented for 950PR</a:t>
            </a:r>
            <a:r>
              <a:rPr sz="1300" b="0" i="0">
                <a:solidFill>
                  <a:srgbClr val="1A1A1A"/>
                </a:solidFill>
                <a:latin typeface="Calibri"/>
              </a:rPr>
              <a:t>   —   four operators in five days, to prove a point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0664" y="5486400"/>
            <a:ext cx="25404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1A1A1A"/>
                </a:solidFill>
                <a:latin typeface="Consolas"/>
              </a:rPr>
              <a:t>DualMM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A5568"/>
                </a:solidFill>
                <a:latin typeface="Calibri"/>
              </a:rPr>
              <a:t>&gt;30 % in bandwidth-bound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63975" y="5486400"/>
            <a:ext cx="25404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1A1A1A"/>
                </a:solidFill>
                <a:latin typeface="Consolas"/>
              </a:rPr>
              <a:t>Bessel_io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A5568"/>
                </a:solidFill>
                <a:latin typeface="Calibri"/>
              </a:rPr>
              <a:t>&gt;95 % vector-core util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87287" y="5486400"/>
            <a:ext cx="25404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1A1A1A"/>
                </a:solidFill>
                <a:latin typeface="Consolas"/>
              </a:rPr>
              <a:t>Roll_complex64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10599" y="5486400"/>
            <a:ext cx="25404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1A1A1A"/>
                </a:solidFill>
                <a:latin typeface="Consolas"/>
              </a:rPr>
              <a:t>Inverse_nd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A5568"/>
                </a:solidFill>
                <a:latin typeface="Calibri"/>
              </a:rPr>
              <a:t>&gt;95 % vector-core util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F4E79"/>
                </a:solidFill>
                <a:latin typeface="Calibri"/>
              </a:rPr>
              <a:t>What the system does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2011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85855" cy="749808"/>
          </a:xfrm>
          <a:prstGeom prst="rect">
            <a:avLst/>
          </a:prstGeom>
          <a:solidFill>
            <a:srgbClr val="F5F7FA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41148" cy="749808"/>
          </a:xfrm>
          <a:prstGeom prst="rect">
            <a:avLst/>
          </a:prstGeom>
          <a:solidFill>
            <a:srgbClr val="C5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1170432"/>
            <a:ext cx="1072865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A1A1A"/>
                </a:solidFill>
                <a:latin typeface="Calibri"/>
              </a:rPr>
              <a:t>By hand:  </a:t>
            </a:r>
            <a:r>
              <a:rPr sz="1400" b="0" i="0">
                <a:solidFill>
                  <a:srgbClr val="1A1A1A"/>
                </a:solidFill>
                <a:latin typeface="Calibri"/>
              </a:rPr>
              <a:t>weeks per operator  ·  3 synchronisation bugs in ~1000 lines  ·  silent corruption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4A5568"/>
                </a:solidFill>
                <a:latin typeface="Calibri"/>
              </a:rPr>
              <a:t>our own baseline — paper §9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93392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490"/>
                </a:solidFill>
                <a:latin typeface="Calibri"/>
              </a:rPr>
              <a:t>IN   </a:t>
            </a:r>
            <a:r>
              <a:rPr sz="1150" b="0" i="0">
                <a:solidFill>
                  <a:srgbClr val="4A5568"/>
                </a:solidFill>
                <a:latin typeface="Calibri"/>
              </a:rPr>
              <a:t>migration_config.yaml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286000"/>
            <a:ext cx="2604439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286000"/>
            <a:ext cx="2604439" cy="411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2468880"/>
            <a:ext cx="22752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4E79"/>
                </a:solidFill>
                <a:latin typeface="Calibri"/>
              </a:rPr>
              <a:t>1  ANALYSE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889504"/>
            <a:ext cx="2275255" cy="1444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0" i="0">
                <a:solidFill>
                  <a:srgbClr val="0E7490"/>
                </a:solidFill>
                <a:latin typeface="Calibri"/>
              </a:rPr>
              <a:t>— 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port mode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0" i="0">
                <a:solidFill>
                  <a:srgbClr val="0E7490"/>
                </a:solidFill>
                <a:latin typeface="Calibri"/>
              </a:rPr>
              <a:t>— 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dtypes: source ∩ target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0" i="0">
                <a:solidFill>
                  <a:srgbClr val="0E7490"/>
                </a:solidFill>
                <a:latin typeface="Calibri"/>
              </a:rPr>
              <a:t>— 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tiling keys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148507" y="3300984"/>
            <a:ext cx="173736" cy="182880"/>
          </a:xfrm>
          <a:prstGeom prst="rightArrow">
            <a:avLst/>
          </a:prstGeom>
          <a:solidFill>
            <a:srgbClr val="B6C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63391" y="2286000"/>
            <a:ext cx="2604439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63391" y="2286000"/>
            <a:ext cx="2604439" cy="411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7983" y="2468880"/>
            <a:ext cx="22752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4E79"/>
                </a:solidFill>
                <a:latin typeface="Calibri"/>
              </a:rPr>
              <a:t>2  EMIT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7983" y="2889504"/>
            <a:ext cx="2275255" cy="1444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0" i="0">
                <a:solidFill>
                  <a:srgbClr val="0E7490"/>
                </a:solidFill>
                <a:latin typeface="Calibri"/>
              </a:rPr>
              <a:t>— 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def · tiling · config · kernel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0" i="0">
                <a:solidFill>
                  <a:srgbClr val="0E7490"/>
                </a:solidFill>
                <a:latin typeface="Calibri"/>
              </a:rPr>
              <a:t>— 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composed from block templates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0" i="0">
                <a:solidFill>
                  <a:srgbClr val="0E7490"/>
                </a:solidFill>
                <a:latin typeface="Calibri"/>
              </a:rPr>
              <a:t>— 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unsupported intrinsics rejected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008979" y="3300984"/>
            <a:ext cx="173736" cy="182880"/>
          </a:xfrm>
          <a:prstGeom prst="rightArrow">
            <a:avLst/>
          </a:prstGeom>
          <a:solidFill>
            <a:srgbClr val="B6C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23863" y="2286000"/>
            <a:ext cx="2604439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23863" y="2286000"/>
            <a:ext cx="2604439" cy="41148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8455" y="2468880"/>
            <a:ext cx="22752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7490"/>
                </a:solidFill>
                <a:latin typeface="Calibri"/>
              </a:rPr>
              <a:t>3  VERIFY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8455" y="2889504"/>
            <a:ext cx="2275255" cy="1444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0" i="0">
                <a:solidFill>
                  <a:srgbClr val="0E7490"/>
                </a:solidFill>
                <a:latin typeface="Calibri"/>
              </a:rPr>
              <a:t>— 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tests generated: CPU · sim · device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0" i="0">
                <a:solidFill>
                  <a:srgbClr val="0E7490"/>
                </a:solidFill>
                <a:latin typeface="Calibri"/>
              </a:rPr>
              <a:t>— 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numerical gate vs golden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0" i="0">
                <a:solidFill>
                  <a:srgbClr val="0E7490"/>
                </a:solidFill>
                <a:latin typeface="Calibri"/>
              </a:rPr>
              <a:t>— 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race · deadlock · memory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869451" y="3300984"/>
            <a:ext cx="173736" cy="182880"/>
          </a:xfrm>
          <a:prstGeom prst="rightArrow">
            <a:avLst/>
          </a:prstGeom>
          <a:solidFill>
            <a:srgbClr val="B6C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84335" y="2286000"/>
            <a:ext cx="2604439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84335" y="2286000"/>
            <a:ext cx="2604439" cy="41148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48927" y="2468880"/>
            <a:ext cx="22752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7490"/>
                </a:solidFill>
                <a:latin typeface="Calibri"/>
              </a:rPr>
              <a:t>4  TUNE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48927" y="2889504"/>
            <a:ext cx="2275255" cy="1444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0" i="0">
                <a:solidFill>
                  <a:srgbClr val="0E7490"/>
                </a:solidFill>
                <a:latin typeface="Calibri"/>
              </a:rPr>
              <a:t>— 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profiler baseline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0" i="0">
                <a:solidFill>
                  <a:srgbClr val="0E7490"/>
                </a:solidFill>
                <a:latin typeface="Calibri"/>
              </a:rPr>
              <a:t>— 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ranked by cost model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0" i="0">
                <a:solidFill>
                  <a:srgbClr val="0E7490"/>
                </a:solidFill>
                <a:latin typeface="Calibri"/>
              </a:rPr>
              <a:t>— 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apply one → keep or revert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590288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490"/>
                </a:solidFill>
                <a:latin typeface="Calibri"/>
              </a:rPr>
              <a:t>OUT   </a:t>
            </a:r>
            <a:r>
              <a:rPr sz="1150" b="0" i="0">
                <a:solidFill>
                  <a:srgbClr val="4A5568"/>
                </a:solidFill>
                <a:latin typeface="Calibri"/>
              </a:rPr>
              <a:t>ported operator + tests, on its own branch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4974336"/>
            <a:ext cx="11185855" cy="1591056"/>
          </a:xfrm>
          <a:prstGeom prst="rect">
            <a:avLst/>
          </a:prstGeom>
          <a:solidFill>
            <a:srgbClr val="EAF2F8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2376" y="5093208"/>
            <a:ext cx="10746943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F4E79"/>
                </a:solidFill>
                <a:latin typeface="Calibri"/>
              </a:rPr>
              <a:t>Every gate is a number.</a:t>
            </a:r>
            <a:r>
              <a:rPr sz="1400" b="0" i="0">
                <a:solidFill>
                  <a:srgbClr val="1A1A1A"/>
                </a:solidFill>
                <a:latin typeface="Calibri"/>
              </a:rPr>
              <a:t>   Nothing advances on “looks correct.”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6" y="5541264"/>
            <a:ext cx="3399434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2F855A"/>
                </a:solidFill>
                <a:latin typeface="Calibri"/>
              </a:rPr>
              <a:t>CORRECTNESS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cosine ≥ 0.99  ·  0.999 for norms and logits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never lowered to pass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96130" y="5541264"/>
            <a:ext cx="3399434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0E7490"/>
                </a:solidFill>
                <a:latin typeface="Calibri"/>
              </a:rPr>
              <a:t>SAFETY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races · deadlock · event balance proved by the analyser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PASS counts only as far as it modelled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69884" y="5541264"/>
            <a:ext cx="3399434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B7791F"/>
                </a:solidFill>
                <a:latin typeface="Calibri"/>
              </a:rPr>
              <a:t>PERFORMANCE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≥ 5 % or reverted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no other shape worse than 2 %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F4E79"/>
                </a:solidFill>
                <a:latin typeface="Calibri"/>
              </a:rPr>
              <a:t>How it decides: the cost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77824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</a:rPr>
              <a:t>Every candidate tiling is priced before code is written.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11185855" cy="2011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426464"/>
            <a:ext cx="5102352" cy="2999232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26464"/>
            <a:ext cx="5102352" cy="411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609344"/>
            <a:ext cx="470001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F4E79"/>
                </a:solidFill>
                <a:latin typeface="Calibri"/>
              </a:rPr>
              <a:t>Four floors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1993392"/>
            <a:ext cx="470001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A5568"/>
                </a:solidFill>
                <a:latin typeface="Calibri"/>
              </a:rPr>
              <a:t>the estimate is the highest one</a:t>
            </a:r>
          </a:p>
        </p:txBody>
      </p:sp>
      <p:sp>
        <p:nvSpPr>
          <p:cNvPr id="9" name="Rectangle 8"/>
          <p:cNvSpPr/>
          <p:nvPr/>
        </p:nvSpPr>
        <p:spPr>
          <a:xfrm>
            <a:off x="722376" y="2409444"/>
            <a:ext cx="118872" cy="118872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359152"/>
            <a:ext cx="442569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longest ordered chain of work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2376" y="2793492"/>
            <a:ext cx="118872" cy="118872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743200"/>
            <a:ext cx="442569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busiest of the five pipes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2376" y="3177540"/>
            <a:ext cx="118872" cy="118872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127248"/>
            <a:ext cx="442569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moving data to and from memory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2376" y="3561588"/>
            <a:ext cx="118872" cy="118872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511296"/>
            <a:ext cx="442569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what the loop sustains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4088" y="3694176"/>
            <a:ext cx="4700016" cy="20116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" y="3803904"/>
            <a:ext cx="4700016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A1A1A"/>
                </a:solidFill>
                <a:latin typeface="Calibri"/>
              </a:rPr>
              <a:t>within 10–20 % of optimal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  —  enough to choose without building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34456" y="1426464"/>
            <a:ext cx="5754319" cy="2999232"/>
          </a:xfrm>
          <a:prstGeom prst="rect">
            <a:avLst/>
          </a:prstGeom>
          <a:solidFill>
            <a:srgbClr val="EAF2F8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53912" y="1609344"/>
            <a:ext cx="531540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F4E79"/>
                </a:solidFill>
                <a:latin typeface="Calibri"/>
              </a:rPr>
              <a:t>Why counting bytes fails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53912" y="2066543"/>
            <a:ext cx="5315407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F4E79"/>
                </a:solidFill>
                <a:latin typeface="Calibri"/>
              </a:rPr>
              <a:t>6.7×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06056" y="2139696"/>
            <a:ext cx="4163263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libri"/>
              </a:rPr>
              <a:t>L2  114 B/cycle</a:t>
            </a:r>
            <a:r>
              <a:rPr sz="1300" b="0" i="0">
                <a:solidFill>
                  <a:srgbClr val="4A5568"/>
                </a:solidFill>
                <a:latin typeface="Calibri"/>
              </a:rPr>
              <a:t>   vs   </a:t>
            </a:r>
            <a:r>
              <a:rPr sz="1300" b="1" i="0">
                <a:solidFill>
                  <a:srgbClr val="1A1A1A"/>
                </a:solidFill>
                <a:latin typeface="Calibri"/>
              </a:rPr>
              <a:t>off-chip  17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53912" y="2798064"/>
            <a:ext cx="5315407" cy="20116"/>
          </a:xfrm>
          <a:prstGeom prst="rect">
            <a:avLst/>
          </a:prstGeom>
          <a:solidFill>
            <a:srgbClr val="B6C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53912" y="2944368"/>
            <a:ext cx="531540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1F4E79"/>
                </a:solidFill>
                <a:latin typeface="Calibri"/>
              </a:rPr>
              <a:t>Same bytes ≠ same time.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Two tilings, identical bytes, ~3× apart — depending on whether it is still in cache when the next core asks.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4E79"/>
                </a:solidFill>
                <a:latin typeface="Calibri"/>
              </a:rPr>
              <a:t>bytes ÷ bandwidth rates them identical. This model does not.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572000"/>
            <a:ext cx="11185855" cy="1225296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4572000"/>
            <a:ext cx="41148" cy="1225296"/>
          </a:xfrm>
          <a:prstGeom prst="rect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0664" y="4718304"/>
            <a:ext cx="44805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F855A"/>
                </a:solidFill>
                <a:latin typeface="Calibri"/>
              </a:rPr>
              <a:t>Measured — one real operator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" y="5084064"/>
            <a:ext cx="22402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4A5568"/>
                </a:solidFill>
                <a:latin typeface="Calibri"/>
              </a:rPr>
              <a:t>L2 hit rate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</a:rPr>
              <a:t>0.04 %</a:t>
            </a:r>
            <a:r>
              <a:rPr sz="1300" b="1" i="0">
                <a:solidFill>
                  <a:srgbClr val="0E7490"/>
                </a:solidFill>
                <a:latin typeface="Calibri"/>
              </a:rPr>
              <a:t>   →   </a:t>
            </a:r>
            <a:r>
              <a:rPr sz="1300" b="1" i="0">
                <a:solidFill>
                  <a:srgbClr val="2F855A"/>
                </a:solidFill>
                <a:latin typeface="Calibri"/>
              </a:rPr>
              <a:t>74.91 %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36392" y="5084064"/>
            <a:ext cx="22402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4A5568"/>
                </a:solidFill>
                <a:latin typeface="Calibri"/>
              </a:rPr>
              <a:t>time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</a:rPr>
              <a:t>63 906 µs</a:t>
            </a:r>
            <a:r>
              <a:rPr sz="1300" b="1" i="0">
                <a:solidFill>
                  <a:srgbClr val="0E7490"/>
                </a:solidFill>
                <a:latin typeface="Calibri"/>
              </a:rPr>
              <a:t>   →   </a:t>
            </a:r>
            <a:r>
              <a:rPr sz="1300" b="1" i="0">
                <a:solidFill>
                  <a:srgbClr val="2F855A"/>
                </a:solidFill>
                <a:latin typeface="Calibri"/>
              </a:rPr>
              <a:t>22 097 µs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41848" y="4956048"/>
            <a:ext cx="57908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A1A1A"/>
                </a:solidFill>
                <a:latin typeface="Calibri"/>
              </a:rPr>
              <a:t>Same bytes. One change to core order.</a:t>
            </a:r>
            <a:r>
              <a:rPr sz="1250" b="0" i="0">
                <a:solidFill>
                  <a:srgbClr val="1A1A1A"/>
                </a:solidFill>
                <a:latin typeface="Calibri"/>
              </a:rPr>
              <a:t>
Rated ~3× better before it ran.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925312"/>
            <a:ext cx="11185855" cy="60350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8952" y="6016752"/>
            <a:ext cx="10673791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Formulas: the paper's.  </a:t>
            </a:r>
            <a:r>
              <a:rPr sz="1350" b="1" i="0">
                <a:solidFill>
                  <a:srgbClr val="FFFFFF"/>
                </a:solidFill>
                <a:latin typeface="Calibri"/>
              </a:rPr>
              <a:t>Ours: priced before, measured after, corrected when wrong.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F4E79"/>
                </a:solidFill>
                <a:latin typeface="Calibri"/>
              </a:rPr>
              <a:t>The synchronisation half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77824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</a:rPr>
              <a:t>10–20 events placed by hand — that is where the three bugs came from.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11185855" cy="2011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481328"/>
            <a:ext cx="3521354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3521354" cy="411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82496"/>
            <a:ext cx="3155594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F4E79"/>
                </a:solidFill>
                <a:latin typeface="Calibri"/>
              </a:rPr>
              <a:t>The analyser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231136"/>
            <a:ext cx="3155594" cy="1700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1" i="0">
                <a:solidFill>
                  <a:srgbClr val="0E7490"/>
                </a:solidFill>
                <a:latin typeface="Calibri"/>
              </a:rPr>
              <a:t>— </a:t>
            </a:r>
            <a:r>
              <a:rPr sz="1200" b="0" i="0">
                <a:solidFill>
                  <a:srgbClr val="1A1A1A"/>
                </a:solidFill>
                <a:latin typeface="Calibri"/>
              </a:rPr>
              <a:t>builds the dependency graph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1" i="0">
                <a:solidFill>
                  <a:srgbClr val="0E7490"/>
                </a:solidFill>
                <a:latin typeface="Calibri"/>
              </a:rPr>
              <a:t>— </a:t>
            </a:r>
            <a:r>
              <a:rPr sz="1200" b="0" i="0">
                <a:solidFill>
                  <a:srgbClr val="1A1A1A"/>
                </a:solidFill>
                <a:latin typeface="Calibri"/>
              </a:rPr>
              <a:t>places events · allocates channels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1" i="0">
                <a:solidFill>
                  <a:srgbClr val="0E7490"/>
                </a:solidFill>
                <a:latin typeface="Calibri"/>
              </a:rPr>
              <a:t>— </a:t>
            </a:r>
            <a:r>
              <a:rPr sz="1200" b="0" i="0">
                <a:solidFill>
                  <a:srgbClr val="1A1A1A"/>
                </a:solidFill>
                <a:latin typeface="Calibri"/>
              </a:rPr>
              <a:t>proves: no races · no deadlock · balanced · loop-safe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4169664"/>
            <a:ext cx="3155594" cy="20116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4279392"/>
            <a:ext cx="3155594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A5568"/>
                </a:solidFill>
                <a:latin typeface="Calibri"/>
              </a:rPr>
              <a:t>npu-pipe-optimizer — a tool we drive, not ours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35170" y="1481328"/>
            <a:ext cx="3521354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35170" y="1481328"/>
            <a:ext cx="3521354" cy="41148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18050" y="1682496"/>
            <a:ext cx="3155594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E7490"/>
                </a:solidFill>
                <a:latin typeface="Calibri"/>
              </a:rPr>
              <a:t>Why it needs 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8050" y="2231136"/>
            <a:ext cx="3155594" cy="1700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1" i="0">
                <a:solidFill>
                  <a:srgbClr val="0E7490"/>
                </a:solidFill>
                <a:latin typeface="Calibri"/>
              </a:rPr>
              <a:t>— </a:t>
            </a:r>
            <a:r>
              <a:rPr sz="1200" b="0" i="0">
                <a:solidFill>
                  <a:srgbClr val="1A1A1A"/>
                </a:solidFill>
                <a:latin typeface="Calibri"/>
              </a:rPr>
              <a:t>it needs a machine-readable kernel map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1" i="0">
                <a:solidFill>
                  <a:srgbClr val="0E7490"/>
                </a:solidFill>
                <a:latin typeface="Calibri"/>
              </a:rPr>
              <a:t>— </a:t>
            </a:r>
            <a:r>
              <a:rPr sz="1200" b="0" i="0">
                <a:solidFill>
                  <a:srgbClr val="1A1A1A"/>
                </a:solidFill>
                <a:latin typeface="Calibri"/>
              </a:rPr>
              <a:t>nothing extracts one from AscendC source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1" i="0">
                <a:solidFill>
                  <a:srgbClr val="0E7490"/>
                </a:solidFill>
                <a:latin typeface="Calibri"/>
              </a:rPr>
              <a:t>— </a:t>
            </a:r>
            <a:r>
              <a:rPr sz="1200" b="0" i="0">
                <a:solidFill>
                  <a:srgbClr val="1A1A1A"/>
                </a:solidFill>
                <a:latin typeface="Calibri"/>
              </a:rPr>
              <a:t>we build it, block by block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18050" y="4169664"/>
            <a:ext cx="3155594" cy="20116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18050" y="4279392"/>
            <a:ext cx="3155594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A5568"/>
                </a:solidFill>
                <a:latin typeface="Calibri"/>
              </a:rPr>
              <a:t>without this it cannot run on real kernels at all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67420" y="1481328"/>
            <a:ext cx="3521354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67420" y="1481328"/>
            <a:ext cx="3521354" cy="41148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50300" y="1682496"/>
            <a:ext cx="3155594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E7490"/>
                </a:solidFill>
                <a:latin typeface="Calibri"/>
              </a:rPr>
              <a:t>PASS ≠ correct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0300" y="2231136"/>
            <a:ext cx="3155594" cy="1700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1" i="0">
                <a:solidFill>
                  <a:srgbClr val="0E7490"/>
                </a:solidFill>
                <a:latin typeface="Calibri"/>
              </a:rPr>
              <a:t>— </a:t>
            </a:r>
            <a:r>
              <a:rPr sz="1200" b="0" i="0">
                <a:solidFill>
                  <a:srgbClr val="1A1A1A"/>
                </a:solidFill>
                <a:latin typeface="Calibri"/>
              </a:rPr>
              <a:t>counts only if: every phase modelled · aliasing declared · loop right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1" i="0">
                <a:solidFill>
                  <a:srgbClr val="0E7490"/>
                </a:solidFill>
                <a:latin typeface="Calibri"/>
              </a:rPr>
              <a:t>— </a:t>
            </a:r>
            <a:r>
              <a:rPr sz="1200" b="0" i="0">
                <a:solidFill>
                  <a:srgbClr val="1A1A1A"/>
                </a:solidFill>
                <a:latin typeface="Calibri"/>
              </a:rPr>
              <a:t>otherwise: “passed within what was modelled”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50300" y="4169664"/>
            <a:ext cx="3155594" cy="20116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50300" y="4279392"/>
            <a:ext cx="3155594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A5568"/>
                </a:solidFill>
                <a:latin typeface="Calibri"/>
              </a:rPr>
              <a:t>a PASS on an incomplete map is a silent false negative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5175504"/>
            <a:ext cx="11185855" cy="658368"/>
          </a:xfrm>
          <a:prstGeom prst="rect">
            <a:avLst/>
          </a:prstGeom>
          <a:solidFill>
            <a:srgbClr val="F5F7FA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5175504"/>
            <a:ext cx="41148" cy="658368"/>
          </a:xfrm>
          <a:prstGeom prst="rect">
            <a:avLst/>
          </a:prstGeom>
          <a:solidFill>
            <a:srgbClr val="C5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285232"/>
            <a:ext cx="53949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Placing events by hand is where the weeks went.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59" y="5285232"/>
            <a:ext cx="5105095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4E79"/>
                </a:solidFill>
                <a:latin typeface="Calibri"/>
              </a:rPr>
              <a:t>35 debug rules so far</a:t>
            </a:r>
            <a:r>
              <a:rPr sz="1300" b="0" i="0">
                <a:solidFill>
                  <a:srgbClr val="1A1A1A"/>
                </a:solidFill>
                <a:latin typeface="Calibri"/>
              </a:rPr>
              <a:t> — each written after a real bug.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