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FRAME: this is what came out the other end. The rest of the deck is how.</a:t>
            </a:r>
          </a:p>
          <a:p/>
          <a:p>
            <a:r>
              <a:t>ORDER OF EMPHASIS if time is short: the two e2e prefill numbers (40 % on compute_wy, 35 % on the</a:t>
            </a:r>
          </a:p>
          <a:p>
            <a:r>
              <a:t>CGDR pair) are the ones that move a user-visible metric — end-to-end, not operator-local. Lead</a:t>
            </a:r>
          </a:p>
          <a:p>
            <a:r>
              <a:t>with those. The 25 % on RGDR and the 70× on GroupMatMul are operator-local; say so, don't let</a:t>
            </a:r>
          </a:p>
          <a:p>
            <a:r>
              <a:t>anyone hear them as end-to-end.</a:t>
            </a:r>
          </a:p>
          <a:p/>
          <a:p>
            <a:r>
              <a:t>THE 3–4 % ON TopPTopK is small and worth keeping anyway — it is in the sampling path, so it</a:t>
            </a:r>
          </a:p>
          <a:p>
            <a:r>
              <a:t>applies to every decode step regardless of model or shape.</a:t>
            </a:r>
          </a:p>
          <a:p/>
          <a:p>
            <a:r>
              <a:t>THE 950PR ROW IS THE ARGUMENT ABOUT SPEED, not about those four operators. Four operators, five</a:t>
            </a:r>
          </a:p>
          <a:p>
            <a:r>
              <a:t>days, a chip that is not our main target. If someone asks 'how long does a port take now', that</a:t>
            </a:r>
          </a:p>
          <a:p>
            <a:r>
              <a:t>row is the answer.</a:t>
            </a:r>
          </a:p>
          <a:p/>
          <a:p>
            <a:r>
              <a:t>IF ASKED WHICH OF THESE THE SYSTEM DID vs. which were done by hand — answer it straight, it is</a:t>
            </a:r>
          </a:p>
          <a:p>
            <a:r>
              <a:t>the first thing a sceptic will ask. Have the split ready before you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FRAME: a config file goes in, an operator that has passed its own</a:t>
            </a:r>
          </a:p>
          <a:p>
            <a:r>
              <a:t>gates comes out.</a:t>
            </a:r>
          </a:p>
          <a:p/>
          <a:p>
            <a:r>
              <a:t>The opening number is OUR baseline, not a vendor claim — paper §9: several weeks for one</a:t>
            </a:r>
          </a:p>
          <a:p>
            <a:r>
              <a:t>operator, three synchronisation bugs in ~1000 lines of kernel code, silent data corruption</a:t>
            </a:r>
          </a:p>
          <a:p>
            <a:r>
              <a:t>and aicore exceptions, and they were only found by running the analysis tools. That is the</a:t>
            </a:r>
          </a:p>
          <a:p>
            <a:r>
              <a:t>cost the system is attacking.</a:t>
            </a:r>
          </a:p>
          <a:p/>
          <a:p>
            <a:r>
              <a:t>IF ASKED how the four phases map to real work: ANALYSE decides whether the port can share</a:t>
            </a:r>
          </a:p>
          <a:p>
            <a:r>
              <a:t>the existing tiling or needs its own, intersects the dtypes the two chips actually support,</a:t>
            </a:r>
          </a:p>
          <a:p>
            <a:r>
              <a:t>and allocates tiling keys that cannot collide with the source chip's. EMIT writes the four</a:t>
            </a:r>
          </a:p>
          <a:p>
            <a:r>
              <a:t>files a CANN operator needs. VERIFY generates its own tests. TUNE measures first, then</a:t>
            </a:r>
          </a:p>
          <a:p>
            <a:r>
              <a:t>changes one thing at a time.</a:t>
            </a:r>
          </a:p>
          <a:p/>
          <a:p>
            <a:r>
              <a:t>THE POINT TO LAND on the gate band: the thresholds are not aspirations, they are refusals.</a:t>
            </a:r>
          </a:p>
          <a:p>
            <a:r>
              <a:t>A change that measures 4% faster is reverted, automatically, from a snapshot. And the</a:t>
            </a:r>
          </a:p>
          <a:p>
            <a:r>
              <a:t>correctness floor is never lowered to make a test pass — that is written into the rule, not</a:t>
            </a:r>
          </a:p>
          <a:p>
            <a:r>
              <a:t>left to judgement.</a:t>
            </a:r>
          </a:p>
          <a:p/>
          <a:p>
            <a:r>
              <a:t>IF ASKED why 0.99: at 1024 dimensions that is about an 8-degree angle, empirically the floor</a:t>
            </a:r>
          </a:p>
          <a:p>
            <a:r>
              <a:t>below which downstream consumers — attention scores, loss gradients — start producing</a:t>
            </a:r>
          </a:p>
          <a:p>
            <a:r>
              <a:t>visibly different predictions. Norm and logit operators run at 0.999 because large vocab</a:t>
            </a:r>
          </a:p>
          <a:p>
            <a:r>
              <a:t>and normalisation amplify error. Cosine alone is not sufficient, so max_err is gated</a:t>
            </a:r>
          </a:p>
          <a:p>
            <a:r>
              <a:t>alongside it: a single NaN can hide inside a good-looking cosine.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FRAME: the system does not tune by trial and error. It prices every</a:t>
            </a:r>
          </a:p>
          <a:p>
            <a:r>
              <a:t>candidate tiling first, then checks the price against the hardware.</a:t>
            </a:r>
          </a:p>
          <a:p/>
          <a:p>
            <a:r>
              <a:t>THE COMPARISON TO MAKE OUT LOUD (deliberately not printed on the slide): the usual way to</a:t>
            </a:r>
          </a:p>
          <a:p>
            <a:r>
              <a:t>estimate a kernel's cost is bytes divided by bandwidth — a roofline. That estimate cannot</a:t>
            </a:r>
          </a:p>
          <a:p>
            <a:r>
              <a:t>tell these two tilings apart, because they move the same bytes. If that is what the tooling</a:t>
            </a:r>
          </a:p>
          <a:p>
            <a:r>
              <a:t>elsewhere does, this is the gap.</a:t>
            </a:r>
          </a:p>
          <a:p/>
          <a:p>
            <a:r>
              <a:t>WHY L2 CHANGES THE ANSWER: the weight matrix is read by every core. If the cores are walking</a:t>
            </a:r>
          </a:p>
          <a:p>
            <a:r>
              <a:t>different parts of the problem, each one fetches the weight from off-chip at 17 bytes per</a:t>
            </a:r>
          </a:p>
          <a:p>
            <a:r>
              <a:t>cycle. If they are walking the same part at the same time, the first fetch pulls it into L2</a:t>
            </a:r>
          </a:p>
          <a:p>
            <a:r>
              <a:t>and the other seven read it at 114. Same bytes requested, 6.7× different cost to serve them.</a:t>
            </a:r>
          </a:p>
          <a:p>
            <a:r>
              <a:t>The model carries a spill term: once the working set stops fitting in roughly 10 MB of usable</a:t>
            </a:r>
          </a:p>
          <a:p>
            <a:r>
              <a:t>L2, the advantage decays back to the off-chip rate.</a:t>
            </a:r>
          </a:p>
          <a:p/>
          <a:p>
            <a:r>
              <a:t>THE OPERATOR IS m968 (batch 1, one query, unoptimised baseline). Before: 2 cores, 4 M-shards,</a:t>
            </a:r>
          </a:p>
          <a:p>
            <a:r>
              <a:t>cores on disjoint column-batches — L2 hit rate 0.04%, 63906 µs. After: cores restructured to</a:t>
            </a:r>
          </a:p>
          <a:p>
            <a:r>
              <a:t>share one weight — 74.91%, 22097 µs.</a:t>
            </a:r>
          </a:p>
          <a:p/>
          <a:p>
            <a:r>
              <a:t>BE PRECISE IF PRESSED: a rule fires on the operator's shape — enough M-direction work to fill</a:t>
            </a:r>
          </a:p>
          <a:p>
            <a:r>
              <a:t>every core, and a weight that doesn't change across the batch — and proposes the restructure.</a:t>
            </a:r>
          </a:p>
          <a:p>
            <a:r>
              <a:t>The model then prices it. Formalising that choice inside the tiling solver, rather than as a</a:t>
            </a:r>
          </a:p>
          <a:p>
            <a:r>
              <a:t>rule, is on the open list.</a:t>
            </a:r>
          </a:p>
          <a:p/>
          <a:p>
            <a:r>
              <a:t>THE 30% LINE MATTERS MOST. Predicted and measured cycles are compared per component after</a:t>
            </a:r>
          </a:p>
          <a:p>
            <a:r>
              <a:t>every run. A persistent gap raises a calibration finding against the model itself. That is the</a:t>
            </a:r>
          </a:p>
          <a:p>
            <a:r>
              <a:t>difference between a formula in a paper and a model that is actually in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FRAME: slide 1 said three synchronisation bugs in ~1000 lines. This is</a:t>
            </a:r>
          </a:p>
          <a:p>
            <a:r>
              <a:t>what closes that.</a:t>
            </a:r>
          </a:p>
          <a:p/>
          <a:p>
            <a:r>
              <a:t>WHAT THE ANALYSER IS: npu-pipe-optimizer, described in §10 of the paper. Give it a map of the</a:t>
            </a:r>
          </a:p>
          <a:p>
            <a:r>
              <a:t>kernel — every operation, which pipe it runs on, which buffers it reads and writes — and it</a:t>
            </a:r>
          </a:p>
          <a:p>
            <a:r>
              <a:t>derives where the hazards are, places the events, allocates the channels, and checks event</a:t>
            </a:r>
          </a:p>
          <a:p>
            <a:r>
              <a:t>balance, deadlock freedom, race freedom and cross-iteration safety.</a:t>
            </a:r>
          </a:p>
          <a:p/>
          <a:p>
            <a:r>
              <a:t>BE CAREFUL WITH CREDIT: the paper proposes that tool; it is not the skill system. Present it</a:t>
            </a:r>
          </a:p>
          <a:p>
            <a:r>
              <a:t>as a dependency we drive, not as something we are claiming.</a:t>
            </a:r>
          </a:p>
          <a:p/>
          <a:p>
            <a:r>
              <a:t>THE REAL POINT IS THE MIDDLE COLUMN. The analyser is only as good as the map it is handed, and</a:t>
            </a:r>
          </a:p>
          <a:p>
            <a:r>
              <a:t>there is no way to produce that map automatically from AscendC source — the compiler-based</a:t>
            </a:r>
          </a:p>
          <a:p>
            <a:r>
              <a:t>route was tried and does not work. That is on our open-problems list, and it is why a whole</a:t>
            </a:r>
          </a:p>
          <a:p>
            <a:r>
              <a:t>skill exists to compose the map block by block. Without it the analyser cannot be used on real</a:t>
            </a:r>
          </a:p>
          <a:p>
            <a:r>
              <a:t>kernels at all.</a:t>
            </a:r>
          </a:p>
          <a:p/>
          <a:p>
            <a:r>
              <a:t>IF ASKED ABOUT THE THIRD COLUMN: three preconditions. Every phase touching the buffer has to be</a:t>
            </a:r>
          </a:p>
          <a:p>
            <a:r>
              <a:t>in the map, or a hazard whose other end is off-model is invisible. Buffers that share the same</a:t>
            </a:r>
          </a:p>
          <a:p>
            <a:r>
              <a:t>memory under different names must be declared, or the analyser treats them as unrelated. And</a:t>
            </a:r>
          </a:p>
          <a:p>
            <a:r>
              <a:t>the loop body has to be right, or cross-iteration hazards are missed. Fail any one and a PASS</a:t>
            </a:r>
          </a:p>
          <a:p>
            <a:r>
              <a:t>is downgraded rather than trusted.</a:t>
            </a:r>
          </a:p>
          <a:p/>
          <a:p>
            <a:r>
              <a:t>IF ASKED 'is this running today or not': yes, either way. The correctness step has two modes —</a:t>
            </a:r>
          </a:p>
          <a:p>
            <a:r>
              <a:t>with the analyser wired in it drives the graph checks; without it, the pipeline falls back to its</a:t>
            </a:r>
          </a:p>
          <a:p>
            <a:r>
              <a:t>own per-operator check suite. The analyser makes it stronger; it is not a prerequisite.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What shipped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Operators delivered, and what each one bought.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5855" cy="201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1118585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90472"/>
            <a:ext cx="2880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8768" y="1490472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7688" y="1490472"/>
            <a:ext cx="49679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73936"/>
            <a:ext cx="11185855" cy="1280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onsolas"/>
              </a:rPr>
              <a:t>compute_wy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193852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GDN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1911095"/>
            <a:ext cx="4967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55A"/>
                </a:solidFill>
                <a:latin typeface="Calibri"/>
              </a:rPr>
              <a:t>+40 %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e2e prefill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40864"/>
            <a:ext cx="11185855" cy="5669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40864"/>
            <a:ext cx="11185855" cy="1280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496312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onsolas"/>
              </a:rPr>
              <a:t>TopPTopK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505456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sampling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478024"/>
            <a:ext cx="4967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55A"/>
                </a:solidFill>
                <a:latin typeface="Calibri"/>
              </a:rPr>
              <a:t>+3–4 %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decode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07791"/>
            <a:ext cx="11185855" cy="1280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063239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onsolas"/>
              </a:rPr>
              <a:t>CGDR_fwd_o · CGDR_fwd_h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3072384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GDN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3044951"/>
            <a:ext cx="4967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55A"/>
                </a:solidFill>
                <a:latin typeface="Calibri"/>
              </a:rPr>
              <a:t>+35 %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e2e prefill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74720"/>
            <a:ext cx="11185855" cy="5669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74720"/>
            <a:ext cx="11185855" cy="1280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630168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onsolas"/>
              </a:rPr>
              <a:t>RGDR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3639312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GDN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3611879"/>
            <a:ext cx="4967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55A"/>
                </a:solidFill>
                <a:latin typeface="Calibri"/>
              </a:rPr>
              <a:t>+25 %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on the operator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41648"/>
            <a:ext cx="11185855" cy="1280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19709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onsolas"/>
              </a:rPr>
              <a:t>GroupMatMul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420624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AI-PC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4178808"/>
            <a:ext cx="4967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F855A"/>
                </a:solidFill>
                <a:latin typeface="Calibri"/>
              </a:rPr>
              <a:t>70×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on the operator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608576"/>
            <a:ext cx="11185855" cy="12801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919472"/>
            <a:ext cx="11185855" cy="1316736"/>
          </a:xfrm>
          <a:prstGeom prst="rect">
            <a:avLst/>
          </a:prstGeom>
          <a:solidFill>
            <a:srgbClr val="EAF2F8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" y="5065776"/>
            <a:ext cx="1071036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Also implemented for 950PR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  —   four operators in five days, to prove a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" y="5486400"/>
            <a:ext cx="25404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Consolas"/>
              </a:rPr>
              <a:t>DualMM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568"/>
                </a:solidFill>
                <a:latin typeface="Calibri"/>
              </a:rPr>
              <a:t>&gt;30 % in bandwidth-bound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63975" y="5486400"/>
            <a:ext cx="25404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Consolas"/>
              </a:rPr>
              <a:t>Bessel_io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568"/>
                </a:solidFill>
                <a:latin typeface="Calibri"/>
              </a:rPr>
              <a:t>&gt;95 % vector-core util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7287" y="5486400"/>
            <a:ext cx="25404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Consolas"/>
              </a:rPr>
              <a:t>Roll_complex64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0599" y="5486400"/>
            <a:ext cx="25404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A1A1A"/>
                </a:solidFill>
                <a:latin typeface="Consolas"/>
              </a:rPr>
              <a:t>Inverse_nd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568"/>
                </a:solidFill>
                <a:latin typeface="Calibri"/>
              </a:rPr>
              <a:t>&gt;95 % vector-core util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What the system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5855" cy="201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5855" cy="749808"/>
          </a:xfrm>
          <a:prstGeom prst="rect">
            <a:avLst/>
          </a:prstGeom>
          <a:solidFill>
            <a:srgbClr val="F5F7FA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41148" cy="749808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170432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By hand: 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weeks per operator  ·  3 synchronisation bugs in ~1000 lines  ·  silent corruption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4A5568"/>
                </a:solidFill>
                <a:latin typeface="Calibri"/>
              </a:rPr>
              <a:t>our own baseline — paper §9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IN   </a:t>
            </a:r>
            <a:r>
              <a:rPr sz="1150" b="0" i="0">
                <a:solidFill>
                  <a:srgbClr val="4A5568"/>
                </a:solidFill>
                <a:latin typeface="Calibri"/>
              </a:rPr>
              <a:t>migration_config.yaml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2604439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2604439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468880"/>
            <a:ext cx="22752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1  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889504"/>
            <a:ext cx="2275255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port mode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dtypes: source ∩ target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tiling keys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8507" y="3300984"/>
            <a:ext cx="173736" cy="182880"/>
          </a:xfrm>
          <a:prstGeom prst="rightArrow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3391" y="2286000"/>
            <a:ext cx="2604439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3391" y="2286000"/>
            <a:ext cx="2604439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7983" y="2468880"/>
            <a:ext cx="22752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2  EMIT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983" y="2889504"/>
            <a:ext cx="2275255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def · tiling · config · kernel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composed from block templates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unsupported intrinsics rejected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08979" y="3300984"/>
            <a:ext cx="173736" cy="182880"/>
          </a:xfrm>
          <a:prstGeom prst="rightArrow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3863" y="2286000"/>
            <a:ext cx="2604439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2286000"/>
            <a:ext cx="2604439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8455" y="2468880"/>
            <a:ext cx="22752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3 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8455" y="2889504"/>
            <a:ext cx="2275255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tests generated: CPU · sim · device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numerical gate vs golden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race · deadlock · memory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69451" y="3300984"/>
            <a:ext cx="173736" cy="182880"/>
          </a:xfrm>
          <a:prstGeom prst="rightArrow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4335" y="2286000"/>
            <a:ext cx="2604439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84335" y="2286000"/>
            <a:ext cx="2604439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8927" y="2468880"/>
            <a:ext cx="22752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Calibri"/>
              </a:rPr>
              <a:t>4  TUNE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927" y="2889504"/>
            <a:ext cx="2275255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profiler baseline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ranked by cost model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0E7490"/>
                </a:solidFill>
                <a:latin typeface="Calibri"/>
              </a:rPr>
              <a:t>—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apply one → keep or revert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902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490"/>
                </a:solidFill>
                <a:latin typeface="Calibri"/>
              </a:rPr>
              <a:t>OUT   </a:t>
            </a:r>
            <a:r>
              <a:rPr sz="1150" b="0" i="0">
                <a:solidFill>
                  <a:srgbClr val="4A5568"/>
                </a:solidFill>
                <a:latin typeface="Calibri"/>
              </a:rPr>
              <a:t>ported operator + tests, on its own branch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974336"/>
            <a:ext cx="11185855" cy="1591056"/>
          </a:xfrm>
          <a:prstGeom prst="rect">
            <a:avLst/>
          </a:prstGeom>
          <a:solidFill>
            <a:srgbClr val="EAF2F8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5093208"/>
            <a:ext cx="10746943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Every gate is a number.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  Nothing advances on “looks correct.”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5541264"/>
            <a:ext cx="339943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855A"/>
                </a:solidFill>
                <a:latin typeface="Calibri"/>
              </a:rPr>
              <a:t>CORRECTNESS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cosine ≥ 0.99  ·  0.999 for norms and logits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never lowered to 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6130" y="5541264"/>
            <a:ext cx="339943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490"/>
                </a:solidFill>
                <a:latin typeface="Calibri"/>
              </a:rPr>
              <a:t>SAFETY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sanitizers clean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3-run determinism sweep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9884" y="5541264"/>
            <a:ext cx="339943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7791F"/>
                </a:solidFill>
                <a:latin typeface="Calibri"/>
              </a:rPr>
              <a:t>PERFORMANCE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≥ 5 % or reverted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no other shape worse than 2 %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How it decides: the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Every candidate tiling is priced before code is written.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5855" cy="201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5102352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26464"/>
            <a:ext cx="5102352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09344"/>
            <a:ext cx="470001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Four floors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93392"/>
            <a:ext cx="4700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5568"/>
                </a:solidFill>
                <a:latin typeface="Calibri"/>
              </a:rPr>
              <a:t>the estimate is the highest 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2409444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59152"/>
            <a:ext cx="44256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longest ordered chain of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" y="2793492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4256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busiest of the five pipes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3177540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27248"/>
            <a:ext cx="44256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moving data to and from memory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" y="3561588"/>
            <a:ext cx="118872" cy="11887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11296"/>
            <a:ext cx="44256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what the loop sustains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3694176"/>
            <a:ext cx="4700016" cy="20116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803904"/>
            <a:ext cx="470001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within 10–20 % of optimal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  —  enough to choose without building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34456" y="1426464"/>
            <a:ext cx="5754319" cy="2999232"/>
          </a:xfrm>
          <a:prstGeom prst="rect">
            <a:avLst/>
          </a:prstGeom>
          <a:solidFill>
            <a:srgbClr val="EAF2F8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1609344"/>
            <a:ext cx="531540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Why counting bytes fails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2066543"/>
            <a:ext cx="531540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6.7×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2139696"/>
            <a:ext cx="416326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</a:rPr>
              <a:t>L2  114 B/cycle</a:t>
            </a:r>
            <a:r>
              <a:rPr sz="1300" b="0" i="0">
                <a:solidFill>
                  <a:srgbClr val="4A5568"/>
                </a:solidFill>
                <a:latin typeface="Calibri"/>
              </a:rPr>
              <a:t>   vs  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off-chip  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3912" y="2798064"/>
            <a:ext cx="5315407" cy="20116"/>
          </a:xfrm>
          <a:prstGeom prst="rect">
            <a:avLst/>
          </a:prstGeom>
          <a:solidFill>
            <a:srgbClr val="B6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2944368"/>
            <a:ext cx="531540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Same bytes ≠ same time.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Two tilings, identical bytes, ~3× apart — depending on whether it is still in cache when the next core asks.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bytes ÷ bandwidth rates them identical. This model does not.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72000"/>
            <a:ext cx="11185855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572000"/>
            <a:ext cx="41148" cy="1225296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4718304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855A"/>
                </a:solidFill>
                <a:latin typeface="Calibri"/>
              </a:rPr>
              <a:t>Measured — one real operator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5084064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L2 hit rate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0.04 %</a:t>
            </a:r>
            <a:r>
              <a:rPr sz="1300" b="1" i="0">
                <a:solidFill>
                  <a:srgbClr val="0E7490"/>
                </a:solidFill>
                <a:latin typeface="Calibri"/>
              </a:rPr>
              <a:t>   →   </a:t>
            </a:r>
            <a:r>
              <a:rPr sz="1300" b="1" i="0">
                <a:solidFill>
                  <a:srgbClr val="2F855A"/>
                </a:solidFill>
                <a:latin typeface="Calibri"/>
              </a:rPr>
              <a:t>74.91 %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6392" y="5084064"/>
            <a:ext cx="2240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4A5568"/>
                </a:solidFill>
                <a:latin typeface="Calibri"/>
              </a:rPr>
              <a:t>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63 906 µs</a:t>
            </a:r>
            <a:r>
              <a:rPr sz="1300" b="1" i="0">
                <a:solidFill>
                  <a:srgbClr val="0E7490"/>
                </a:solidFill>
                <a:latin typeface="Calibri"/>
              </a:rPr>
              <a:t>   →   </a:t>
            </a:r>
            <a:r>
              <a:rPr sz="1300" b="1" i="0">
                <a:solidFill>
                  <a:srgbClr val="2F855A"/>
                </a:solidFill>
                <a:latin typeface="Calibri"/>
              </a:rPr>
              <a:t>22 097 µs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41848" y="4956048"/>
            <a:ext cx="57908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Same bytes. One change to core order.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
Rated ~3× better before it ran.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25312"/>
            <a:ext cx="11185855" cy="6035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6016752"/>
            <a:ext cx="1067379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Formulas: the paper's.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Ours: priced before, measured after, corrected when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The synchronisation half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77824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10–20 events placed by hand — that is where the three bugs came from.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11185855" cy="2011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3521354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3521354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82496"/>
            <a:ext cx="31555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The analyser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31136"/>
            <a:ext cx="3155594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builds the dependency graph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places events · allocates channels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proves: no races · no deadlock · balanced · loop-safe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169664"/>
            <a:ext cx="3155594" cy="20116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279392"/>
            <a:ext cx="315559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npu-pipe-optimizer — a tool we drive, not 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5170" y="1481328"/>
            <a:ext cx="3521354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5170" y="1481328"/>
            <a:ext cx="3521354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050" y="1682496"/>
            <a:ext cx="31555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7490"/>
                </a:solidFill>
                <a:latin typeface="Calibri"/>
              </a:rPr>
              <a:t>Why it needs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050" y="2231136"/>
            <a:ext cx="3155594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it needs a machine-readable kernel map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nothing extracts one from AscendC source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we build it, block by block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8050" y="4169664"/>
            <a:ext cx="3155594" cy="20116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8050" y="4279392"/>
            <a:ext cx="315559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without this it cannot run on real kernels at 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67420" y="1481328"/>
            <a:ext cx="3521354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7420" y="1481328"/>
            <a:ext cx="3521354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0300" y="1682496"/>
            <a:ext cx="315559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7490"/>
                </a:solidFill>
                <a:latin typeface="Calibri"/>
              </a:rPr>
              <a:t>PASS ≠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0300" y="2231136"/>
            <a:ext cx="3155594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counts only if: every phase modelled · aliasing declared · loop right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7490"/>
                </a:solidFill>
                <a:latin typeface="Calibri"/>
              </a:rPr>
              <a:t>—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otherwise: “passed within what was modelled”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0300" y="4169664"/>
            <a:ext cx="3155594" cy="20116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0300" y="4279392"/>
            <a:ext cx="315559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5568"/>
                </a:solidFill>
                <a:latin typeface="Calibri"/>
              </a:rPr>
              <a:t>a PASS on an incomplete map is a silent false negative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175504"/>
            <a:ext cx="11185855" cy="658368"/>
          </a:xfrm>
          <a:prstGeom prst="rect">
            <a:avLst/>
          </a:prstGeom>
          <a:solidFill>
            <a:srgbClr val="F5F7FA"/>
          </a:solidFill>
          <a:ln w="9525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75504"/>
            <a:ext cx="41148" cy="658368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85232"/>
            <a:ext cx="5394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Placing events by hand is where the weeks went.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5285232"/>
            <a:ext cx="510509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35 debug rules so far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— each written after a real bug.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